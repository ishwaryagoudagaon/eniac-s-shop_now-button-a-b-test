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8263A"/>
                </a:solidFill>
                <a:latin typeface="Aptos"/>
              </a:rPr>
              <a:t>Eniac’s A/B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515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5A626C"/>
                </a:solidFill>
                <a:latin typeface="Aptos"/>
              </a:rPr>
              <a:t>Objective: improve homepage engagement and guide visitors toward relevant products</a:t>
            </a:r>
          </a:p>
        </p:txBody>
      </p:sp>
      <p:pic>
        <p:nvPicPr>
          <p:cNvPr id="4" name="Picture 3" descr="ab9c5ce1-becc-4648-bd14-e8a76a39bd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806440" cy="49500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29400" y="1234440"/>
            <a:ext cx="49834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67728" y="15087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EE7E30"/>
                </a:solidFill>
                <a:latin typeface="Aptos"/>
              </a:rPr>
              <a:t>Experiment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7728" y="1920240"/>
            <a:ext cx="42519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Test 4 button variants: A, B, C and D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White vs. red button colour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“SHOP NOW” vs. “SEE DEALS” wording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Primary metric: homepage click-through rate (CTR)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Additional metrics: linked-page drop-off and homepage-return rate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Significance level: α = 0.05; power = 80%; MDE = 20%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Planned duration: 14 days / two business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11" y="5202936"/>
            <a:ext cx="4251960" cy="380942"/>
          </a:xfrm>
          <a:prstGeom prst="roundRect">
            <a:avLst/>
          </a:prstGeom>
          <a:solidFill>
            <a:srgbClr val="FFF3E8"/>
          </a:solidFill>
          <a:ln>
            <a:solidFill>
              <a:srgbClr val="EE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50608" y="5184648"/>
            <a:ext cx="3886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>
                <a:solidFill>
                  <a:srgbClr val="18263A"/>
                </a:solidFill>
                <a:latin typeface="Aptos"/>
              </a:rPr>
              <a:t>Business value: identify a button that increases meaningful engagement.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626C"/>
                </a:solidFill>
                <a:latin typeface="Aptos"/>
              </a:rPr>
              <a:t>Eniac A/B Test | Homepage button experiment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8263A"/>
                </a:solidFill>
                <a:latin typeface="Aptos"/>
              </a:rPr>
              <a:t>Observed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26C"/>
                </a:solidFill>
                <a:latin typeface="Aptos"/>
              </a:rPr>
              <a:t>CTR = clicks ÷ homepage visits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25880"/>
          <a:ext cx="6537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1826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1826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No-clicks</a:t>
                      </a:r>
                    </a:p>
                  </a:txBody>
                  <a:tcPr>
                    <a:solidFill>
                      <a:srgbClr val="1826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CTR</a:t>
                      </a:r>
                    </a:p>
                  </a:txBody>
                  <a:tcPr>
                    <a:solidFill>
                      <a:srgbClr val="18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8263A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134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1,366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8.93%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8263A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1,398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6.80%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8263A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1,422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5.20%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8263A"/>
                          </a:solidFill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129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1,371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8263A"/>
                          </a:solidFill>
                        </a:defRPr>
                      </a:pPr>
                      <a:r>
                        <a:t>8.60%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1325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E7E30"/>
                </a:solidFill>
                <a:latin typeface="Aptos"/>
              </a:rPr>
              <a:t>CTR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92024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8263A"/>
                </a:solidFill>
                <a:latin typeface="Aptos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938528"/>
            <a:ext cx="2743200" cy="256032"/>
          </a:xfrm>
          <a:prstGeom prst="rect">
            <a:avLst/>
          </a:prstGeom>
          <a:solidFill>
            <a:srgbClr val="E6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46720" y="1938528"/>
            <a:ext cx="2449677" cy="256032"/>
          </a:xfrm>
          <a:prstGeom prst="rect">
            <a:avLst/>
          </a:prstGeom>
          <a:solidFill>
            <a:srgbClr val="EE7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27080" y="1911096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8263A"/>
                </a:solidFill>
                <a:latin typeface="Aptos"/>
              </a:rPr>
              <a:t>8.93%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578608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8263A"/>
                </a:solidFill>
                <a:latin typeface="Aptos"/>
              </a:rPr>
              <a:t>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596896"/>
            <a:ext cx="2743200" cy="256032"/>
          </a:xfrm>
          <a:prstGeom prst="rect">
            <a:avLst/>
          </a:prstGeom>
          <a:solidFill>
            <a:srgbClr val="E6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2596896"/>
            <a:ext cx="2359151" cy="256032"/>
          </a:xfrm>
          <a:prstGeom prst="rect">
            <a:avLst/>
          </a:prstGeom>
          <a:solidFill>
            <a:srgbClr val="18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27080" y="2569464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8263A"/>
                </a:solidFill>
                <a:latin typeface="Aptos"/>
              </a:rPr>
              <a:t>8.60%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236976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8263A"/>
                </a:solidFill>
                <a:latin typeface="Aptos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255264"/>
            <a:ext cx="2743200" cy="256032"/>
          </a:xfrm>
          <a:prstGeom prst="rect">
            <a:avLst/>
          </a:prstGeom>
          <a:solidFill>
            <a:srgbClr val="E6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3255264"/>
            <a:ext cx="1865376" cy="256032"/>
          </a:xfrm>
          <a:prstGeom prst="rect">
            <a:avLst/>
          </a:prstGeom>
          <a:solidFill>
            <a:srgbClr val="18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27080" y="3227832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8263A"/>
                </a:solidFill>
                <a:latin typeface="Aptos"/>
              </a:rPr>
              <a:t>6.80%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89534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8263A"/>
                </a:solidFill>
                <a:latin typeface="Aptos"/>
              </a:rPr>
              <a:t>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913631"/>
            <a:ext cx="2743200" cy="256032"/>
          </a:xfrm>
          <a:prstGeom prst="rect">
            <a:avLst/>
          </a:prstGeom>
          <a:solidFill>
            <a:srgbClr val="E6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3913631"/>
            <a:ext cx="1426464" cy="256032"/>
          </a:xfrm>
          <a:prstGeom prst="rect">
            <a:avLst/>
          </a:prstGeom>
          <a:solidFill>
            <a:srgbClr val="18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27080" y="3886200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8263A"/>
                </a:solidFill>
                <a:latin typeface="Aptos"/>
              </a:rPr>
              <a:t>5.20%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09160"/>
            <a:ext cx="10927080" cy="1143000"/>
          </a:xfrm>
          <a:prstGeom prst="roundRect">
            <a:avLst/>
          </a:prstGeom>
          <a:solidFill>
            <a:srgbClr val="F6F8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8263A"/>
                </a:solidFill>
                <a:latin typeface="Aptos"/>
              </a:rPr>
              <a:t>Overall chi-square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91947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E7E30"/>
                </a:solidFill>
                <a:latin typeface="Aptos"/>
              </a:rPr>
              <a:t>χ² = 19.72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9194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E7E30"/>
                </a:solidFill>
                <a:latin typeface="Aptos"/>
              </a:rPr>
              <a:t>p ≈ 0.000194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919472"/>
            <a:ext cx="4526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68757"/>
                </a:solidFill>
                <a:latin typeface="Aptos"/>
              </a:rPr>
              <a:t>Since p &lt; 0.05, the four versions do not have equal CTRs.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626C"/>
                </a:solidFill>
                <a:latin typeface="Aptos"/>
              </a:rPr>
              <a:t>Eniac A/B Test | Homepage button experiment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8263A"/>
                </a:solidFill>
                <a:latin typeface="Aptos"/>
              </a:rPr>
              <a:t>Conclusion and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26C"/>
                </a:solidFill>
                <a:latin typeface="Aptos"/>
              </a:rPr>
              <a:t>Interpret the highest CTR together with statistical significance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3035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EE7E30"/>
                </a:solidFill>
                <a:latin typeface="Aptos"/>
              </a:rPr>
              <a:t>What the test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4805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A has the highest observed CTR: 8.93%.</a:t>
            </a:r>
          </a:p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D is very close: 8.60%.</a:t>
            </a:r>
          </a:p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A and D are not statistically different from each other.</a:t>
            </a:r>
          </a:p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A performs significantly better than C.</a:t>
            </a:r>
          </a:p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D also performs significantly better than C.</a:t>
            </a:r>
          </a:p>
          <a:p>
            <a:pPr>
              <a:spcAft>
                <a:spcPts val="800"/>
              </a:spcAft>
              <a:defRPr sz="1600">
                <a:solidFill>
                  <a:srgbClr val="18263A"/>
                </a:solidFill>
                <a:latin typeface="Aptos"/>
              </a:defRPr>
            </a:pPr>
            <a:r>
              <a:t>B is not significantly different from the other versions after correction.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303520" cy="4526280"/>
          </a:xfrm>
          <a:prstGeom prst="roundRect">
            <a:avLst/>
          </a:prstGeom>
          <a:solidFill>
            <a:srgbClr val="FFF8EF"/>
          </a:solidFill>
          <a:ln>
            <a:solidFill>
              <a:srgbClr val="EE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EE7E30"/>
                </a:solidFill>
                <a:latin typeface="Aptos"/>
              </a:rPr>
              <a:t>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1168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8263A"/>
                </a:solidFill>
                <a:latin typeface="Aptos"/>
              </a:rPr>
              <a:t>Do not declare A a definitive winner over 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A is the CTR leader in this sample.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A and D should be treated as statistically comparable.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C is the clearly weaker-performing version.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Use drop-off and homepage-return rates as guardrail metrics before final rollout.</a:t>
            </a:r>
          </a:p>
          <a:p>
            <a:pPr>
              <a:spcAft>
                <a:spcPts val="800"/>
              </a:spcAft>
              <a:defRPr sz="1500">
                <a:solidFill>
                  <a:srgbClr val="18263A"/>
                </a:solidFill>
                <a:latin typeface="Aptos"/>
              </a:defRPr>
            </a:pPr>
            <a:r>
              <a:t>If business conditions allow, run a follow-up test focused on A vs. D with a smaller MDE.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989320"/>
            <a:ext cx="9966960" cy="384048"/>
          </a:xfrm>
          <a:prstGeom prst="roundRect">
            <a:avLst/>
          </a:prstGeom>
          <a:solidFill>
            <a:srgbClr val="18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6071616"/>
            <a:ext cx="9509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Takeaway: the experiment found meaningful differences, with A and D leading and C lagging.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626C"/>
                </a:solidFill>
                <a:latin typeface="Aptos"/>
              </a:rPr>
              <a:t>Eniac A/B Test | Homepage button experiment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350</Words>
  <Application>Microsoft Office PowerPoint</Application>
  <PresentationFormat>Widescreen</PresentationFormat>
  <Paragraphs>66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Shivaling Goudagaon</cp:lastModifiedBy>
  <cp:revision>2</cp:revision>
  <dcterms:created xsi:type="dcterms:W3CDTF">2013-01-27T09:14:16Z</dcterms:created>
  <dcterms:modified xsi:type="dcterms:W3CDTF">2026-09-18T20:10:58Z</dcterms:modified>
  <cp:category/>
</cp:coreProperties>
</file>