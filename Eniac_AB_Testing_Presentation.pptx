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4"/>
    <p:sldId id="258" r:id="rId3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CTR</c:v>
                </c:pt>
              </c:strCache>
            </c:strRef>
          </c:tx>
          <c:spPr>
            <a:solidFill>
              <a:srgbClr val="EF7E2D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2.02</c:v>
                </c:pt>
                <c:pt idx="1">
                  <c:v>1.14</c:v>
                </c:pt>
                <c:pt idx="2">
                  <c:v>2.12</c:v>
                </c:pt>
                <c:pt idx="3">
                  <c:v>0.76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4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8263A"/>
                </a:solidFill>
                <a:latin typeface="Aptos"/>
              </a:rPr>
              <a:t>Eniac’s A/B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5A626C"/>
                </a:solidFill>
                <a:latin typeface="Aptos"/>
              </a:rPr>
              <a:t>Objective: improve homepage engagement and guide visitors toward relevant products</a:t>
            </a:r>
          </a:p>
        </p:txBody>
      </p:sp>
      <p:pic>
        <p:nvPicPr>
          <p:cNvPr id="4" name="Picture 3" descr="ab9c5ce1-becc-4648-bd14-e8a76a39bd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806440" cy="49500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29400" y="1234440"/>
            <a:ext cx="49834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67728" y="1508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EE7E30"/>
                </a:solidFill>
                <a:latin typeface="Aptos"/>
              </a:rPr>
              <a:t>Experiment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67728" y="1920240"/>
            <a:ext cx="42519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63A"/>
                </a:solidFill>
                <a:latin typeface="Aptos"/>
              </a:defRPr>
            </a:pPr>
            <a:r>
              <a:t>Test 4 button variants: A, B, C and D</a:t>
            </a:r>
          </a:p>
          <a:p>
            <a:pPr>
              <a:spcAft>
                <a:spcPts val="800"/>
              </a:spcAft>
              <a:defRPr sz="1500">
                <a:solidFill>
                  <a:srgbClr val="18263A"/>
                </a:solidFill>
                <a:latin typeface="Aptos"/>
              </a:defRPr>
            </a:pPr>
            <a:r>
              <a:t>White vs. red button colour</a:t>
            </a:r>
          </a:p>
          <a:p>
            <a:pPr>
              <a:spcAft>
                <a:spcPts val="800"/>
              </a:spcAft>
              <a:defRPr sz="1500">
                <a:solidFill>
                  <a:srgbClr val="18263A"/>
                </a:solidFill>
                <a:latin typeface="Aptos"/>
              </a:defRPr>
            </a:pPr>
            <a:r>
              <a:t>“SHOP NOW” vs. “SEE DEALS” wording</a:t>
            </a:r>
          </a:p>
          <a:p>
            <a:pPr>
              <a:spcAft>
                <a:spcPts val="800"/>
              </a:spcAft>
              <a:defRPr sz="1500">
                <a:solidFill>
                  <a:srgbClr val="18263A"/>
                </a:solidFill>
                <a:latin typeface="Aptos"/>
              </a:defRPr>
            </a:pPr>
            <a:r>
              <a:t>Primary metric: homepage click-through rate (CTR)</a:t>
            </a:r>
          </a:p>
          <a:p>
            <a:pPr>
              <a:spcAft>
                <a:spcPts val="800"/>
              </a:spcAft>
              <a:defRPr sz="1500">
                <a:solidFill>
                  <a:srgbClr val="18263A"/>
                </a:solidFill>
                <a:latin typeface="Aptos"/>
              </a:defRPr>
            </a:pPr>
            <a:r>
              <a:t>Additional metrics: linked-page drop-off and homepage-return rate</a:t>
            </a:r>
          </a:p>
          <a:p>
            <a:pPr>
              <a:spcAft>
                <a:spcPts val="800"/>
              </a:spcAft>
              <a:defRPr sz="1500">
                <a:solidFill>
                  <a:srgbClr val="18263A"/>
                </a:solidFill>
                <a:latin typeface="Aptos"/>
              </a:defRPr>
            </a:pPr>
            <a:r>
              <a:t>Significance level: α = 0.05; power = 80%; MDE = 20%</a:t>
            </a:r>
          </a:p>
          <a:p>
            <a:pPr>
              <a:spcAft>
                <a:spcPts val="800"/>
              </a:spcAft>
              <a:defRPr sz="1500">
                <a:solidFill>
                  <a:srgbClr val="18263A"/>
                </a:solidFill>
                <a:latin typeface="Aptos"/>
              </a:defRPr>
            </a:pPr>
            <a:r>
              <a:t>Planned duration: 14 days / two business cycles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96011" y="5202936"/>
            <a:ext cx="4251960" cy="380942"/>
          </a:xfrm>
          <a:prstGeom prst="roundRect">
            <a:avLst/>
          </a:prstGeom>
          <a:solidFill>
            <a:srgbClr val="FFF3E8"/>
          </a:solidFill>
          <a:ln>
            <a:solidFill>
              <a:srgbClr val="EE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50608" y="5184648"/>
            <a:ext cx="3886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>
                <a:solidFill>
                  <a:srgbClr val="18263A"/>
                </a:solidFill>
                <a:latin typeface="Aptos"/>
              </a:rPr>
              <a:t>Business value: identify a button that increases meaningful engagement.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26C"/>
                </a:solidFill>
                <a:latin typeface="Aptos"/>
              </a:rPr>
              <a:t>Eniac A/B Test | Homepage button experiment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3E"/>
                </a:solidFill>
              </a:rPr>
              <a:t>Observed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07C"/>
                </a:solidFill>
              </a:rPr>
              <a:t>Updated from the current notebook: CTR = CTA clicks ÷ homepage visits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5486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371600"/>
                <a:gridCol w="1554480"/>
                <a:gridCol w="1417320"/>
              </a:tblGrid>
              <a:tr h="694944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8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Clicks</a:t>
                      </a:r>
                    </a:p>
                  </a:txBody>
                  <a:tcPr>
                    <a:solidFill>
                      <a:srgbClr val="18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No-clicks</a:t>
                      </a:r>
                    </a:p>
                  </a:txBody>
                  <a:tcPr>
                    <a:solidFill>
                      <a:srgbClr val="18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CTR</a:t>
                      </a:r>
                    </a:p>
                  </a:txBody>
                  <a:tcPr>
                    <a:solidFill>
                      <a:srgbClr val="182A3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512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24,814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2.02%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24,466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1.14%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527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24,349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2.12%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25,040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0.76%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46520" y="1325880"/>
          <a:ext cx="49834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166360"/>
            <a:ext cx="2560320" cy="1051560"/>
          </a:xfrm>
          <a:prstGeom prst="roundRect">
            <a:avLst/>
          </a:prstGeom>
          <a:solidFill>
            <a:srgbClr val="F5F7F9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5276088"/>
            <a:ext cx="23774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07C"/>
                </a:solidFill>
              </a:rPr>
              <a:t>HIGHEST OBSERVED CTR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5559552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EF7E2D"/>
                </a:solidFill>
              </a:rPr>
              <a:t>C — 2.12%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5166360"/>
            <a:ext cx="2560320" cy="1051560"/>
          </a:xfrm>
          <a:prstGeom prst="roundRect">
            <a:avLst/>
          </a:prstGeom>
          <a:solidFill>
            <a:srgbClr val="F5F7F9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5276088"/>
            <a:ext cx="23774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07C"/>
                </a:solidFill>
              </a:rPr>
              <a:t>LOWEST OBSERVED CTR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5559552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182A3E"/>
                </a:solidFill>
              </a:rPr>
              <a:t>D — 0.76%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5166360"/>
            <a:ext cx="4983480" cy="1051560"/>
          </a:xfrm>
          <a:prstGeom prst="roundRect">
            <a:avLst/>
          </a:prstGeom>
          <a:solidFill>
            <a:srgbClr val="F5F7F9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5349240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D60"/>
                </a:solidFill>
              </a:rPr>
              <a:t>Key observation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5824728"/>
            <a:ext cx="452628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73340"/>
                </a:solidFill>
              </a:defRPr>
            </a:pPr>
            <a:r>
              <a:t>A and C have the two highest observed CTRs; their difference is tested in the pairwise analysis.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07C"/>
                </a:solidFill>
              </a:rPr>
              <a:t>Eniac A/B Test | Homepage button experiment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3E"/>
                </a:solidFill>
              </a:rPr>
              <a:t>Overall chi-square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07C"/>
                </a:solidFill>
              </a:rPr>
              <a:t>Tests whether CTA version and click behavior are independent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200400" cy="1051560"/>
          </a:xfrm>
          <a:prstGeom prst="roundRect">
            <a:avLst/>
          </a:prstGeom>
          <a:solidFill>
            <a:srgbClr val="F5F7F9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35607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07C"/>
                </a:solidFill>
              </a:rPr>
              <a:t>CHI-SQUARE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EF7E2D"/>
                </a:solidFill>
              </a:rPr>
              <a:t>224.0188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25880"/>
            <a:ext cx="2926080" cy="1051560"/>
          </a:xfrm>
          <a:prstGeom prst="roundRect">
            <a:avLst/>
          </a:prstGeom>
          <a:solidFill>
            <a:srgbClr val="F5F7F9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35607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07C"/>
                </a:solidFill>
              </a:rPr>
              <a:t>DEGREES OF FREEDOM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1907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182A3E"/>
                </a:solidFill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325880"/>
            <a:ext cx="3291840" cy="1051560"/>
          </a:xfrm>
          <a:prstGeom prst="roundRect">
            <a:avLst/>
          </a:prstGeom>
          <a:solidFill>
            <a:srgbClr val="F5F7F9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1435607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07C"/>
                </a:solidFill>
              </a:rPr>
              <a:t>P-VALUE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171907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2E7D60"/>
                </a:solidFill>
              </a:rPr>
              <a:t>2.72 × 10⁻⁴⁸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10515600" cy="2468880"/>
          </a:xfrm>
          <a:prstGeom prst="roundRect">
            <a:avLst/>
          </a:prstGeom>
          <a:solidFill>
            <a:srgbClr val="F5F7F9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08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D60"/>
                </a:solidFill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84448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73340"/>
                </a:solidFill>
              </a:defRPr>
            </a:pPr>
            <a:r>
              <a:t>H₀: the four variants have the same CTR.</a:t>
            </a:r>
          </a:p>
          <a:p>
            <a:pPr>
              <a:spcAft>
                <a:spcPts val="700"/>
              </a:spcAft>
              <a:defRPr sz="1300">
                <a:solidFill>
                  <a:srgbClr val="273340"/>
                </a:solidFill>
              </a:defRPr>
            </a:pPr>
            <a:r>
              <a:t>H₁: CTR differs across the variants.</a:t>
            </a:r>
          </a:p>
          <a:p>
            <a:pPr>
              <a:spcAft>
                <a:spcPts val="700"/>
              </a:spcAft>
              <a:defRPr sz="1300">
                <a:solidFill>
                  <a:srgbClr val="273340"/>
                </a:solidFill>
              </a:defRPr>
            </a:pPr>
          </a:p>
          <a:p>
            <a:pPr>
              <a:spcAft>
                <a:spcPts val="700"/>
              </a:spcAft>
              <a:defRPr sz="1300">
                <a:solidFill>
                  <a:srgbClr val="273340"/>
                </a:solidFill>
              </a:defRPr>
            </a:pPr>
            <a:r>
              <a:t>With p &lt; 0.05, the overall test rejects H₀. The four versions do not have equal CTRs, so pairwise post-hoc comparisons are needed.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07C"/>
                </a:solidFill>
              </a:rPr>
              <a:t>Eniac A/B Test | Homepage button experiment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3E"/>
                </a:solidFill>
              </a:rPr>
              <a:t>Pairwise post-hoc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07C"/>
                </a:solidFill>
              </a:rPr>
              <a:t>Six pairwise chi-square tests using a Bonferroni-adjusted threshold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2743200" cy="1051560"/>
          </a:xfrm>
          <a:prstGeom prst="roundRect">
            <a:avLst/>
          </a:prstGeom>
          <a:solidFill>
            <a:srgbClr val="F5F7F9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07C"/>
                </a:solidFill>
              </a:rPr>
              <a:t>ADJUSTED 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EF7E2D"/>
                </a:solidFill>
              </a:rPr>
              <a:t>0.0083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188720"/>
            <a:ext cx="2743200" cy="1051560"/>
          </a:xfrm>
          <a:prstGeom prst="roundRect">
            <a:avLst/>
          </a:prstGeom>
          <a:solidFill>
            <a:srgbClr val="F5F7F9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59" y="129844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07C"/>
                </a:solidFill>
              </a:rPr>
              <a:t>COMPARISONS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59" y="1581912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182A3E"/>
                </a:solidFill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188720"/>
            <a:ext cx="4754880" cy="1051560"/>
          </a:xfrm>
          <a:prstGeom prst="roundRect">
            <a:avLst/>
          </a:prstGeom>
          <a:solidFill>
            <a:srgbClr val="F5F7F9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79" y="129844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07C"/>
                </a:solidFill>
              </a:rPr>
              <a:t>SIGNIFICANCE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79" y="1581912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2E7D60"/>
                </a:solidFill>
              </a:rPr>
              <a:t>p &lt; 0.0083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2514600"/>
          <a:ext cx="103327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657600"/>
                <a:gridCol w="3566160"/>
              </a:tblGrid>
              <a:tr h="476794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Comparison</a:t>
                      </a:r>
                    </a:p>
                  </a:txBody>
                  <a:tcPr>
                    <a:solidFill>
                      <a:srgbClr val="18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8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82A3E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A vs B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2.67 × 10⁻¹⁵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E7D60"/>
                          </a:solidFill>
                        </a:rPr>
                        <a:t>Significant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A vs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0.465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Not 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A vs D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3.08 × 10⁻³³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E7D60"/>
                          </a:solidFill>
                        </a:rPr>
                        <a:t>Significant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B vs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6.96 × 10⁻¹⁸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E7D60"/>
                          </a:solidFill>
                        </a:rPr>
                        <a:t>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B vs D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2.36 × 10⁻⁵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E7D60"/>
                          </a:solidFill>
                        </a:rPr>
                        <a:t>Significant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47679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C vs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73340"/>
                          </a:solidFill>
                        </a:rPr>
                        <a:t>6.45 × 10⁻³⁷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E7D60"/>
                          </a:solidFill>
                        </a:rPr>
                        <a:t>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07C"/>
                </a:solidFill>
              </a:rPr>
              <a:t>Eniac A/B Test | Homepage button experiment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3E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07C"/>
                </a:solidFill>
              </a:rPr>
              <a:t>Interpret observed CTR together with statistical significance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49240" cy="4343400"/>
          </a:xfrm>
          <a:prstGeom prst="roundRect">
            <a:avLst/>
          </a:prstGeom>
          <a:solidFill>
            <a:srgbClr val="F5F7F9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F7E2D"/>
                </a:solidFill>
              </a:rPr>
              <a:t>What the notebook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92808"/>
            <a:ext cx="4892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73340"/>
                </a:solidFill>
              </a:defRPr>
            </a:pPr>
            <a:r>
              <a:t>C has the highest observed CTR: 2.12%.</a:t>
            </a:r>
          </a:p>
          <a:p>
            <a:pPr>
              <a:spcAft>
                <a:spcPts val="700"/>
              </a:spcAft>
              <a:defRPr sz="1300">
                <a:solidFill>
                  <a:srgbClr val="273340"/>
                </a:solidFill>
              </a:defRPr>
            </a:pPr>
            <a:r>
              <a:t>A is very close: 2.02%.</a:t>
            </a:r>
          </a:p>
          <a:p>
            <a:pPr>
              <a:spcAft>
                <a:spcPts val="700"/>
              </a:spcAft>
              <a:defRPr sz="1300">
                <a:solidFill>
                  <a:srgbClr val="273340"/>
                </a:solidFill>
              </a:defRPr>
            </a:pPr>
            <a:r>
              <a:t>A and C are not statistically different from each other (p = 0.465).</a:t>
            </a:r>
          </a:p>
          <a:p>
            <a:pPr>
              <a:spcAft>
                <a:spcPts val="700"/>
              </a:spcAft>
              <a:defRPr sz="1300">
                <a:solidFill>
                  <a:srgbClr val="273340"/>
                </a:solidFill>
              </a:defRPr>
            </a:pPr>
            <a:r>
              <a:t>A and C both differ significantly from B and D after Bonferroni correction.</a:t>
            </a:r>
          </a:p>
          <a:p>
            <a:pPr>
              <a:spcAft>
                <a:spcPts val="700"/>
              </a:spcAft>
              <a:defRPr sz="1300">
                <a:solidFill>
                  <a:srgbClr val="273340"/>
                </a:solidFill>
              </a:defRPr>
            </a:pPr>
            <a:r>
              <a:t>D has the lowest observed CTR: 0.76%.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349240" cy="4343400"/>
          </a:xfrm>
          <a:prstGeom prst="roundRect">
            <a:avLst/>
          </a:prstGeom>
          <a:solidFill>
            <a:srgbClr val="F5F7F9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41732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A3E"/>
                </a:solidFill>
              </a:rPr>
              <a:t>Decision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92808"/>
            <a:ext cx="4892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73340"/>
                </a:solidFill>
              </a:defRPr>
            </a:pPr>
            <a:r>
              <a:t>Do not interpret the highest observed CTR alone as sufficient evidence of a unique winner.</a:t>
            </a:r>
          </a:p>
          <a:p>
            <a:pPr>
              <a:spcAft>
                <a:spcPts val="700"/>
              </a:spcAft>
              <a:defRPr sz="1300">
                <a:solidFill>
                  <a:srgbClr val="273340"/>
                </a:solidFill>
              </a:defRPr>
            </a:pPr>
          </a:p>
          <a:p>
            <a:pPr>
              <a:spcAft>
                <a:spcPts val="700"/>
              </a:spcAft>
              <a:defRPr sz="1300">
                <a:solidFill>
                  <a:srgbClr val="273340"/>
                </a:solidFill>
              </a:defRPr>
            </a:pPr>
            <a:r>
              <a:t>The current notebook supports treating A and C as statistically comparable on CTR.</a:t>
            </a:r>
          </a:p>
          <a:p>
            <a:pPr>
              <a:spcAft>
                <a:spcPts val="700"/>
              </a:spcAft>
              <a:defRPr sz="1300">
                <a:solidFill>
                  <a:srgbClr val="273340"/>
                </a:solidFill>
              </a:defRPr>
            </a:pPr>
          </a:p>
          <a:p>
            <a:pPr>
              <a:spcAft>
                <a:spcPts val="700"/>
              </a:spcAft>
              <a:defRPr sz="1300">
                <a:solidFill>
                  <a:srgbClr val="273340"/>
                </a:solidFill>
              </a:defRPr>
            </a:pPr>
            <a:r>
              <a:t>Before rollout, review the guardrail metrics and their definitions/implementation, then consider whether a focused follow-up experiment is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07C"/>
                </a:solidFill>
              </a:rPr>
              <a:t>Eniac A/B Test | Homepage button experiment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350</Words>
  <Application>Microsoft Office PowerPoint</Application>
  <PresentationFormat>Widescreen</PresentationFormat>
  <Paragraphs>66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Shivaling Goudagaon</cp:lastModifiedBy>
  <cp:revision>2</cp:revision>
  <dcterms:created xsi:type="dcterms:W3CDTF">2013-01-27T09:14:16Z</dcterms:created>
  <dcterms:modified xsi:type="dcterms:W3CDTF">2026-09-18T20:10:58Z</dcterms:modified>
  <cp:category/>
</cp:coreProperties>
</file>